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340" r:id="rId2"/>
    <p:sldId id="341" r:id="rId3"/>
    <p:sldId id="347" r:id="rId4"/>
    <p:sldId id="351" r:id="rId5"/>
    <p:sldId id="352" r:id="rId6"/>
    <p:sldId id="353" r:id="rId7"/>
    <p:sldId id="356" r:id="rId8"/>
    <p:sldId id="357" r:id="rId9"/>
    <p:sldId id="354" r:id="rId10"/>
    <p:sldId id="355" r:id="rId11"/>
    <p:sldId id="358" r:id="rId12"/>
    <p:sldId id="344" r:id="rId13"/>
    <p:sldId id="345" r:id="rId14"/>
    <p:sldId id="348" r:id="rId15"/>
    <p:sldId id="349" r:id="rId16"/>
    <p:sldId id="350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имер презентации" id="{6AA03373-22ED-49D6-9AE8-039D1DE66E44}">
          <p14:sldIdLst>
            <p14:sldId id="340"/>
            <p14:sldId id="341"/>
            <p14:sldId id="347"/>
            <p14:sldId id="351"/>
            <p14:sldId id="352"/>
            <p14:sldId id="353"/>
            <p14:sldId id="356"/>
            <p14:sldId id="357"/>
            <p14:sldId id="354"/>
            <p14:sldId id="355"/>
            <p14:sldId id="358"/>
            <p14:sldId id="344"/>
            <p14:sldId id="345"/>
            <p14:sldId id="348"/>
            <p14:sldId id="349"/>
            <p14:sldId id="3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3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93" autoAdjust="0"/>
    <p:restoredTop sz="82245" autoAdjust="0"/>
  </p:normalViewPr>
  <p:slideViewPr>
    <p:cSldViewPr snapToGrid="0">
      <p:cViewPr varScale="1">
        <p:scale>
          <a:sx n="96" d="100"/>
          <a:sy n="96" d="100"/>
        </p:scale>
        <p:origin x="8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73027-2AB3-4DAB-83B2-DF4B13C5C569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7685D7-C350-491D-A933-7035F35F7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4772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Программа идёт строго сверху вниз. Код пишем после фигурной скобки (строка 4).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Задание: вывести информацию о себе через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Разбить на несколько вызовов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077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D0E6F-A719-C604-0068-B2866AA3F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E384FEB-D2D3-D61D-FA61-8688079912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86594CA-205D-8F3A-D78A-585CFFDE7F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7B32FC-5383-6E61-F07C-BB7824CFE6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4844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80BDC-7EAE-2467-F7D2-0A78BAAB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12AA0F1-DB49-3FB3-50E3-714F729ED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42BBED6-D66B-EE7B-38EF-7379DEE426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7E238C8-7749-2F8F-879B-5EC11EA6E9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9555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E05E6-C58B-F2AA-EF5D-433AFC4FA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DF8337-73F7-4521-AAC2-86B237D26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2D392F4-B508-B43D-4A19-2AD07ED16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DDE8DC-AAA4-6213-8747-72A42D2B6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4144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71BBD-21E1-B9A8-1FF1-6CF8F232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B1AE08C-7376-3342-2C76-04C7D44A64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380B4B5-4ED9-9F93-2415-13B5FB26B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A8511F8-0C81-7FBC-E750-542CD5836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130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99554-B0DA-A72E-9962-A861092D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8948714-556C-FAC5-17B2-7435D3106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107D8BA-14FA-0E43-841F-3044D9855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5C6D4C-E1E9-14DA-E5F6-C48E724E9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5510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A3CB7-7BD3-2EF0-FBFE-FA6102FD7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4E363A-86E9-FF5C-1B11-084CA2B8CB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9B91EE-F4D5-1DD4-AB41-B987EBBF5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24C6D8-DD80-3EC0-00AA-BA6D3930F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8212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A8031-484C-5F4A-5CE5-BFC9F050D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0F1C703-7A4D-A3FA-DA0E-500EB1F92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BB70848-AA9B-79A1-A065-973C69C8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F48C4A-2DA4-FD88-622D-1116C13BDE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4647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6E61-6AF4-68A5-48B1-417D7111E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C3B44F7-6DA1-D7C1-F443-6A6080C3D2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CBE468-A01B-7277-6203-41D449FBA0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FD3232-09CA-4123-E142-18FD67838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803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System;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 {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Evgeniy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25;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bodyTemperature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36.6;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gender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'M';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hasBeard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("Имя: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("Возраст: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Темпаратура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bodyTemperature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("Гендер: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gender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("Наличие бороды: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hasBeard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2914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Рассказать и показать про то, что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может быть =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int,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 != double.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код ниже добавить пример с «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 age = 25;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</a:t>
            </a: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System;</a:t>
            </a: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Program {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static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[]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args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Evgeniy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"25";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double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bodyTemperature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'36.6';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gender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"M";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bool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hasBeard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"25";</a:t>
            </a:r>
          </a:p>
          <a:p>
            <a:b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("Имя: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("Возраст: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Темпаратура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bodyTemperature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("Гендер: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gender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   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Console.WriteLine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("Наличие бороды: " +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hasBeard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}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6732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Рассказать и показать примеры, где мы создаём новые переменные и где мы </a:t>
            </a:r>
            <a:r>
              <a:rPr lang="ru-RU" dirty="0" err="1"/>
              <a:t>переприсваиваем</a:t>
            </a:r>
            <a:r>
              <a:rPr lang="ru-RU" dirty="0"/>
              <a:t> значение старым.</a:t>
            </a:r>
          </a:p>
          <a:p>
            <a:r>
              <a:rPr lang="ru-RU" dirty="0"/>
              <a:t>Спросить, что выведет код на картинке.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7685D7-C350-491D-A933-7035F35F726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921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44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14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1120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267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206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99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568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468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452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4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503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ECD41-0511-49CF-9DE9-CF7B1A97A83F}" type="datetimeFigureOut">
              <a:rPr lang="ru-RU" smtClean="0"/>
              <a:t>31.10.2026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07EBE-58DD-4D01-88DB-8E786EC1B0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87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Рисунок 10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" y="0"/>
            <a:ext cx="12188298" cy="6858000"/>
          </a:xfrm>
          <a:prstGeom prst="rect">
            <a:avLst/>
          </a:prstGeom>
        </p:spPr>
      </p:pic>
      <p:sp>
        <p:nvSpPr>
          <p:cNvPr id="1032" name="Rectangle 42"/>
          <p:cNvSpPr>
            <a:spLocks noChangeArrowheads="1"/>
          </p:cNvSpPr>
          <p:nvPr/>
        </p:nvSpPr>
        <p:spPr bwMode="auto">
          <a:xfrm>
            <a:off x="4311056" y="3005807"/>
            <a:ext cx="3108223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Занятие 1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9" name="Rectangle 49"/>
          <p:cNvSpPr>
            <a:spLocks noChangeArrowheads="1"/>
          </p:cNvSpPr>
          <p:nvPr/>
        </p:nvSpPr>
        <p:spPr bwMode="auto">
          <a:xfrm>
            <a:off x="452437" y="5313363"/>
            <a:ext cx="597118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3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ontserrat" panose="00000500000000000000" pitchFamily="2" charset="-52"/>
              </a:rPr>
              <a:t>Преподаватель: Иванов Иван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41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485775" y="412750"/>
            <a:ext cx="3544240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55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Hello world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9CAA25-BE72-59B5-CA8A-85C6E9AC6F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" y="2028639"/>
            <a:ext cx="6489412" cy="307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352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22715-A3BD-B2B6-1A22-DA9AFDCF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2A0863C4-90A6-DFD6-DE14-700340AC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D0C0EC3F-B906-FD0E-3D0A-8323D103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4411592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Комментарии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AEEA78-0FE3-4E9C-D2A4-DA87A58D2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252" y="1881485"/>
            <a:ext cx="7651493" cy="43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71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BEF6A-6509-C358-8BAB-CB0FA8390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1D68D2F-AA1D-E526-E64C-2258C71A2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5992CFF5-598F-AEA1-4E80-E52E8E445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8" y="396876"/>
            <a:ext cx="41101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5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 descr="https://sun9-69.vkuserphoto.ru/s/v1/ig2/lXYtYHEza_dg-c-deHdyVON3Fiv1uSQg7RqWiXx7ddhpzDGqOLyTzTDso7r845DzagQT_LWpCCJ-ZgZOUIFSzeeU.jpg?quality=95&amp;as=32x27,48x41,72x62,108x93,160x138,240x206,360x309,399x343&amp;from=bu&amp;u=6kFFHVlWm9bWIkMJF7J-TwVjQrzA2FZTekjwE9M8sYQ&amp;cs=399x0">
            <a:extLst>
              <a:ext uri="{FF2B5EF4-FFF2-40B4-BE49-F238E27FC236}">
                <a16:creationId xmlns:a16="http://schemas.microsoft.com/office/drawing/2014/main" id="{20AA21A4-56C3-A9EF-21E3-A0C96C331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850" y="1790443"/>
            <a:ext cx="5276297" cy="453576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54924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D61C4-9B07-1B13-46E5-CB73D1A36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2A33582-884A-7620-9F65-963C5341A0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4F2EEBF7-48C3-E02F-C576-8F5AE63BD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688" y="396876"/>
            <a:ext cx="41101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5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 descr="https://sun9-9.vkuserphoto.ru/s/v1/ig2/J1KLMRr2CTIf3f9GCqH4JsXRhRNrnoKHkuxCCcbZP6CPIOZOA-KVRt0LUsBaI-Rk0VJPxQH86XmO5KsUCkSbu1wp.jpg?quality=95&amp;as=32x20,48x29,72x44,108x66,160x98,240x147,360x220,399x244&amp;from=bu&amp;cs=399x0">
            <a:extLst>
              <a:ext uri="{FF2B5EF4-FFF2-40B4-BE49-F238E27FC236}">
                <a16:creationId xmlns:a16="http://schemas.microsoft.com/office/drawing/2014/main" id="{B98F8D2C-8CED-A577-5D4E-E858B6D677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8065" y="1972764"/>
            <a:ext cx="6915869" cy="42292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526449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3642-55C8-8A98-6113-27B22371B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03D2CAF-892C-E1A7-0E41-B0DA51B45D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2B03EEF-3415-82C1-8108-3469FC293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695" y="0"/>
            <a:ext cx="9822607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43350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7C0BC-6AC0-4E00-1B5E-0B8C2772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0FAFCFC-129C-74F1-DDBC-9E642BC383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DB7A761-DE43-D41E-8831-74A4C242BE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16" y="691023"/>
            <a:ext cx="10917968" cy="54759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3454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69E2-F1FA-A241-11DA-D0F1E52E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F495EC1-A183-B814-2110-40E3F850F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E9AF39-8988-9CDD-8B3B-BA84FBF40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415" y="1221480"/>
            <a:ext cx="11205167" cy="44150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8693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A0F0E-8028-0335-EA69-29950F20C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D799063-DEDA-195C-C361-AA3FEB612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BC909B-CBAD-780D-E1BC-7CDDB5D33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669" y="0"/>
            <a:ext cx="9778659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2952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3462-C44A-E756-5F31-CCF979A84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0258CCB-55B1-A323-9317-09DDF5D37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103E12-BBC8-488B-06B5-06697EF5D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92" y="156897"/>
            <a:ext cx="11091415" cy="65442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39086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E4050-E237-4981-D621-05EB3980E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B57D012-16DC-1159-1974-1F1C944DD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97CE1C0-B089-B4BE-97ED-76A65979DC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796" y="246553"/>
            <a:ext cx="6870407" cy="6364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05230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8D1CD4F-75DB-B119-0F5D-9B1423BCA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420688" y="396876"/>
            <a:ext cx="4110100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56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E2D578CA-9B7B-B01C-B27D-A599DF79C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88" y="1479537"/>
            <a:ext cx="2839348" cy="1120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63520B1-3C5C-C0E5-F393-BA9FAA07FF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750" y="1763000"/>
            <a:ext cx="390114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Объявление переменных:</a:t>
            </a:r>
            <a:b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 название = значение;</a:t>
            </a:r>
          </a:p>
        </p:txBody>
      </p:sp>
      <p:graphicFrame>
        <p:nvGraphicFramePr>
          <p:cNvPr id="11" name="Таблица 10">
            <a:extLst>
              <a:ext uri="{FF2B5EF4-FFF2-40B4-BE49-F238E27FC236}">
                <a16:creationId xmlns:a16="http://schemas.microsoft.com/office/drawing/2014/main" id="{0211D67B-21BA-DEEE-176A-D25EAAA21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655965"/>
              </p:ext>
            </p:extLst>
          </p:nvPr>
        </p:nvGraphicFramePr>
        <p:xfrm>
          <a:off x="420687" y="2737227"/>
          <a:ext cx="3901147" cy="40979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1147">
                  <a:extLst>
                    <a:ext uri="{9D8B030D-6E8A-4147-A177-3AD203B41FA5}">
                      <a16:colId xmlns:a16="http://schemas.microsoft.com/office/drawing/2014/main" val="4180098012"/>
                    </a:ext>
                  </a:extLst>
                </a:gridCol>
              </a:tblGrid>
              <a:tr h="623221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Типы переменных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157905"/>
                  </a:ext>
                </a:extLst>
              </a:tr>
              <a:tr h="62322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–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целое число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 age = 30;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941100"/>
                  </a:ext>
                </a:extLst>
              </a:tr>
              <a:tr h="62322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дробное число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price = 99.99;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68381"/>
                  </a:ext>
                </a:extLst>
              </a:tr>
              <a:tr h="62322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символ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 symbol = 'h';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408003"/>
                  </a:ext>
                </a:extLst>
              </a:tr>
              <a:tr h="62322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строка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набор символов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s1 = "This is a string";</a:t>
                      </a:r>
                      <a:endParaRPr lang="ru-RU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241046"/>
                  </a:ext>
                </a:extLst>
              </a:tr>
              <a:tr h="623221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да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variableTrue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true;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//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bool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variableFalse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false; //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095440"/>
                  </a:ext>
                </a:extLst>
              </a:tr>
            </a:tbl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C50034C-A5B7-34D2-C8E1-0D249ED41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521" y="1628624"/>
            <a:ext cx="7229250" cy="4618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740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4" name="Рисунок 51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492125" y="463551"/>
            <a:ext cx="4037965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ru-RU" altLang="ru-RU" sz="5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Переменные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1ECB5C5-28FE-D5DB-F26A-CBE79536D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25" y="1562220"/>
            <a:ext cx="7359788" cy="50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658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2844-8E1A-5322-84C9-3FC323A8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0D9F61AF-9DAC-C60B-1916-C8558B9B33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E6066CCB-8DF8-A0F6-EAFF-CFFFAFB76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3560975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Константы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EA30D8-1D0F-AFB6-23C6-EC8E20EDCE5B}"/>
              </a:ext>
            </a:extLst>
          </p:cNvPr>
          <p:cNvSpPr txBox="1"/>
          <p:nvPr/>
        </p:nvSpPr>
        <p:spPr>
          <a:xfrm>
            <a:off x="485774" y="1671886"/>
            <a:ext cx="11421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специальный тип переменной, значение которой не может быть изменено после инициализации. Чтобы объявить константу, используйте ключевое слово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за которым следует тип данных и имя константы.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1C1A3B7-25A6-9073-2EBF-5425CB9A6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4" y="3071269"/>
            <a:ext cx="5020376" cy="21148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637217E-D060-ED5B-D181-67CEE8A8E9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687" y="3130903"/>
            <a:ext cx="5039428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66B3F-2243-4CBC-F8CD-C274F8B15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Рисунок 2074">
            <a:extLst>
              <a:ext uri="{FF2B5EF4-FFF2-40B4-BE49-F238E27FC236}">
                <a16:creationId xmlns:a16="http://schemas.microsoft.com/office/drawing/2014/main" id="{5D5276CC-7E1E-CFCB-B32E-B1F1F730BF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86C33C95-7D15-27B8-B800-5FF9764D3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" y="412750"/>
            <a:ext cx="3234860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Операции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7B8BA14C-55BF-3B99-176D-5E539CFBD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31944"/>
              </p:ext>
            </p:extLst>
          </p:nvPr>
        </p:nvGraphicFramePr>
        <p:xfrm>
          <a:off x="595105" y="1793009"/>
          <a:ext cx="2336938" cy="4180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938">
                  <a:extLst>
                    <a:ext uri="{9D8B030D-6E8A-4147-A177-3AD203B41FA5}">
                      <a16:colId xmlns:a16="http://schemas.microsoft.com/office/drawing/2014/main" val="4180098012"/>
                    </a:ext>
                  </a:extLst>
                </a:gridCol>
              </a:tblGrid>
              <a:tr h="69673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Операция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157905"/>
                  </a:ext>
                </a:extLst>
              </a:tr>
              <a:tr h="69673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«=» - присваивание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0941100"/>
                  </a:ext>
                </a:extLst>
              </a:tr>
              <a:tr h="69673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«+» - плюс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668381"/>
                  </a:ext>
                </a:extLst>
              </a:tr>
              <a:tr h="69673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«-» - минус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408003"/>
                  </a:ext>
                </a:extLst>
              </a:tr>
              <a:tr h="69673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«*» - умножение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2241046"/>
                  </a:ext>
                </a:extLst>
              </a:tr>
              <a:tr h="696735">
                <a:tc>
                  <a:txBody>
                    <a:bodyPr/>
                    <a:lstStyle/>
                    <a:p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- </a:t>
                      </a:r>
                      <a:r>
                        <a:rPr lang="ru-RU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деление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095440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7827381-27AC-684D-C1D0-965856712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171" y="1526072"/>
            <a:ext cx="6446061" cy="471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7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D4276-4AF3-5F49-4C87-15630811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F7DC897-35C1-018A-2269-FFC91DEC75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Rectangle 6">
            <a:extLst>
              <a:ext uri="{FF2B5EF4-FFF2-40B4-BE49-F238E27FC236}">
                <a16:creationId xmlns:a16="http://schemas.microsoft.com/office/drawing/2014/main" id="{130F4290-6452-4D11-C374-B58B5B0B5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4600" y="3005807"/>
            <a:ext cx="7642798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55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Переходим к практике !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7445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475</Words>
  <Application>Microsoft Office PowerPoint</Application>
  <PresentationFormat>Широкоэкранный</PresentationFormat>
  <Paragraphs>85</Paragraphs>
  <Slides>16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Montserrat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Odmen</cp:lastModifiedBy>
  <cp:revision>55</cp:revision>
  <dcterms:created xsi:type="dcterms:W3CDTF">2025-08-26T22:29:25Z</dcterms:created>
  <dcterms:modified xsi:type="dcterms:W3CDTF">2026-10-31T05:29:41Z</dcterms:modified>
</cp:coreProperties>
</file>