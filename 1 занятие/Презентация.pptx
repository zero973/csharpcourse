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40" r:id="rId2"/>
    <p:sldId id="341" r:id="rId3"/>
    <p:sldId id="347" r:id="rId4"/>
    <p:sldId id="344" r:id="rId5"/>
    <p:sldId id="345" r:id="rId6"/>
    <p:sldId id="348" r:id="rId7"/>
    <p:sldId id="349" r:id="rId8"/>
    <p:sldId id="350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ример презентации" id="{6AA03373-22ED-49D6-9AE8-039D1DE66E44}">
          <p14:sldIdLst>
            <p14:sldId id="340"/>
            <p14:sldId id="341"/>
            <p14:sldId id="347"/>
            <p14:sldId id="344"/>
            <p14:sldId id="345"/>
            <p14:sldId id="348"/>
            <p14:sldId id="349"/>
            <p14:sldId id="35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93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93" autoAdjust="0"/>
    <p:restoredTop sz="82245" autoAdjust="0"/>
  </p:normalViewPr>
  <p:slideViewPr>
    <p:cSldViewPr snapToGrid="0">
      <p:cViewPr varScale="1">
        <p:scale>
          <a:sx n="96" d="100"/>
          <a:sy n="96" d="100"/>
        </p:scale>
        <p:origin x="82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73027-2AB3-4DAB-83B2-DF4B13C5C569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7685D7-C350-491D-A933-7035F35F72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4772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Программа идёт строго сверху вниз. Код пишем после фигурной скобки (строка 4).</a:t>
            </a:r>
            <a:br>
              <a:rPr lang="ru-RU" dirty="0"/>
            </a:br>
            <a:br>
              <a:rPr lang="ru-RU" dirty="0"/>
            </a:br>
            <a:r>
              <a:rPr lang="ru-RU" dirty="0"/>
              <a:t>Задание: вывести информацию о себе через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Разбить на несколько вызовов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0776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System;</a:t>
            </a:r>
          </a:p>
          <a:p>
            <a:b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Program {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void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[]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args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{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"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Evgeniy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25;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double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bodyTemperature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36.6;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gender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'M';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hasBeard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false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b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("Имя: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("Возраст: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Темпаратура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bodyTemperature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("Гендер: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gender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("Наличие бороды: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hasBeard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2914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Рассказать и показать про то, что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double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может быть =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int,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 != double.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код ниже добавить пример с «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 age = 25;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»</a:t>
            </a:r>
          </a:p>
          <a:p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System;</a:t>
            </a:r>
          </a:p>
          <a:p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class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Program {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static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void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[]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args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{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string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'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Evgeniy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"25";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double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bodyTemperature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'36.6';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gender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"M";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bool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hasBeard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"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false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"25";</a:t>
            </a:r>
          </a:p>
          <a:p>
            <a:b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("Имя: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name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("Возраст: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Темпаратура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bodyTemperature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("Гендер: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gender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Console.WriteLine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("Наличие бороды: " + </a:t>
            </a:r>
            <a:r>
              <a:rPr lang="ru-RU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hasBeard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}</a:t>
            </a:r>
          </a:p>
          <a:p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76732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Рассказать и показать примеры, где мы создаём новые переменные и где мы </a:t>
            </a:r>
            <a:r>
              <a:rPr lang="ru-RU" dirty="0" err="1"/>
              <a:t>переприсваиваем</a:t>
            </a:r>
            <a:r>
              <a:rPr lang="ru-RU" dirty="0"/>
              <a:t> значение старым.</a:t>
            </a:r>
          </a:p>
          <a:p>
            <a:r>
              <a:rPr lang="ru-RU" dirty="0"/>
              <a:t>Спросить, что выведет код на картинке.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685D7-C350-491D-A933-7035F35F726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92181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44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514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11200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26729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1206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69980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5680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7468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7452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240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503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7ECD41-0511-49CF-9DE9-CF7B1A97A83F}" type="datetimeFigureOut">
              <a:rPr lang="ru-RU" smtClean="0"/>
              <a:t>26.09.2026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807EBE-58DD-4D01-88DB-8E786EC1B0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6879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8" name="Рисунок 105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" y="0"/>
            <a:ext cx="12188298" cy="6858000"/>
          </a:xfrm>
          <a:prstGeom prst="rect">
            <a:avLst/>
          </a:prstGeom>
        </p:spPr>
      </p:pic>
      <p:sp>
        <p:nvSpPr>
          <p:cNvPr id="1032" name="Rectangle 42"/>
          <p:cNvSpPr>
            <a:spLocks noChangeArrowheads="1"/>
          </p:cNvSpPr>
          <p:nvPr/>
        </p:nvSpPr>
        <p:spPr bwMode="auto">
          <a:xfrm>
            <a:off x="4311056" y="3005807"/>
            <a:ext cx="3108223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Занятие 1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39" name="Rectangle 49"/>
          <p:cNvSpPr>
            <a:spLocks noChangeArrowheads="1"/>
          </p:cNvSpPr>
          <p:nvPr/>
        </p:nvSpPr>
        <p:spPr bwMode="auto">
          <a:xfrm>
            <a:off x="452437" y="5313363"/>
            <a:ext cx="597118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0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Montserrat" panose="00000500000000000000" pitchFamily="2" charset="-52"/>
              </a:rPr>
              <a:t>Преподаватель: Иванов Иван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416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/>
          <p:cNvSpPr>
            <a:spLocks noChangeArrowheads="1"/>
          </p:cNvSpPr>
          <p:nvPr/>
        </p:nvSpPr>
        <p:spPr bwMode="auto">
          <a:xfrm>
            <a:off x="485775" y="412750"/>
            <a:ext cx="3544240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5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Hello world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E9CAA25-BE72-59B5-CA8A-85C6E9AC6F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75" y="2028639"/>
            <a:ext cx="6489412" cy="3079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352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22715-A3BD-B2B6-1A22-DA9AFDCFC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2A0863C4-90A6-DFD6-DE14-700340AC2E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D0C0EC3F-B906-FD0E-3D0A-8323D103FC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4411592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Комментарии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EECF15F-51F1-5039-71F4-E73E85D64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" y="1671886"/>
            <a:ext cx="6355567" cy="472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719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78D1CD4F-75DB-B119-0F5D-9B1423BCA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Rectangle 5"/>
          <p:cNvSpPr>
            <a:spLocks noChangeArrowheads="1"/>
          </p:cNvSpPr>
          <p:nvPr/>
        </p:nvSpPr>
        <p:spPr bwMode="auto">
          <a:xfrm>
            <a:off x="420688" y="396876"/>
            <a:ext cx="4110100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ru-RU" altLang="ru-RU" sz="56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Переменные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E2D578CA-9B7B-B01C-B27D-A599DF79C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87" y="1479537"/>
            <a:ext cx="3901147" cy="11209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63520B1-3C5C-C0E5-F393-BA9FAA07FF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750" y="1763000"/>
            <a:ext cx="3655949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Объявление переменных:</a:t>
            </a:r>
            <a:b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variableType</a:t>
            </a:r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variableName</a:t>
            </a:r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= </a:t>
            </a:r>
            <a:r>
              <a:rPr lang="ru-RU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value</a:t>
            </a:r>
            <a:r>
              <a:rPr lang="ru-RU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p:graphicFrame>
        <p:nvGraphicFramePr>
          <p:cNvPr id="11" name="Таблица 10">
            <a:extLst>
              <a:ext uri="{FF2B5EF4-FFF2-40B4-BE49-F238E27FC236}">
                <a16:creationId xmlns:a16="http://schemas.microsoft.com/office/drawing/2014/main" id="{0211D67B-21BA-DEEE-176A-D25EAAA21D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4655965"/>
              </p:ext>
            </p:extLst>
          </p:nvPr>
        </p:nvGraphicFramePr>
        <p:xfrm>
          <a:off x="420687" y="2737227"/>
          <a:ext cx="3901147" cy="40979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1147">
                  <a:extLst>
                    <a:ext uri="{9D8B030D-6E8A-4147-A177-3AD203B41FA5}">
                      <a16:colId xmlns:a16="http://schemas.microsoft.com/office/drawing/2014/main" val="4180098012"/>
                    </a:ext>
                  </a:extLst>
                </a:gridCol>
              </a:tblGrid>
              <a:tr h="623221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Типы переменных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157905"/>
                  </a:ext>
                </a:extLst>
              </a:tr>
              <a:tr h="623221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 – 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целое число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 age = 30;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0941100"/>
                  </a:ext>
                </a:extLst>
              </a:tr>
              <a:tr h="623221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double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– дробное число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double price = 99.99;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9668381"/>
                  </a:ext>
                </a:extLst>
              </a:tr>
              <a:tr h="623221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char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- символ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char symbol = 'h';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5408003"/>
                  </a:ext>
                </a:extLst>
              </a:tr>
              <a:tr h="623221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– строка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набор символов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string s1 = "This is a string";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2241046"/>
                  </a:ext>
                </a:extLst>
              </a:tr>
              <a:tr h="623221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bool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– да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bool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variableTrue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= true;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// 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да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bool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variableFalse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= false; // 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нет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0095440"/>
                  </a:ext>
                </a:extLst>
              </a:tr>
            </a:tbl>
          </a:graphicData>
        </a:graphic>
      </p:graphicFrame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15210AAD-3125-2482-728A-02779A923C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8978" y="1906242"/>
            <a:ext cx="6249272" cy="3982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7406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54" name="Рисунок 515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Rectangle 8"/>
          <p:cNvSpPr>
            <a:spLocks noChangeArrowheads="1"/>
          </p:cNvSpPr>
          <p:nvPr/>
        </p:nvSpPr>
        <p:spPr bwMode="auto">
          <a:xfrm>
            <a:off x="492125" y="463551"/>
            <a:ext cx="403796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/>
            <a:r>
              <a:rPr lang="ru-RU" altLang="ru-RU" sz="5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Переменные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1ECB5C5-28FE-D5DB-F26A-CBE79536D7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25" y="1562220"/>
            <a:ext cx="7359788" cy="500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465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B2844-8E1A-5322-84C9-3FC323A82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0D9F61AF-9DAC-C60B-1916-C8558B9B33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E6066CCB-8DF8-A0F6-EAFF-CFFFAFB763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3560975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Константы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EA30D8-1D0F-AFB6-23C6-EC8E20EDCE5B}"/>
              </a:ext>
            </a:extLst>
          </p:cNvPr>
          <p:cNvSpPr txBox="1"/>
          <p:nvPr/>
        </p:nvSpPr>
        <p:spPr>
          <a:xfrm>
            <a:off x="485774" y="1671886"/>
            <a:ext cx="114213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Константа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это специальный тип переменной, значение которой не может быть изменено после инициализации. Чтобы объявить константу, используйте ключевое слово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за которым следует тип данных и имя константы.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1C1A3B7-25A6-9073-2EBF-5425CB9A6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4" y="3071269"/>
            <a:ext cx="5020376" cy="211484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637217E-D060-ED5B-D181-67CEE8A8E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8687" y="3130903"/>
            <a:ext cx="5039428" cy="200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939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66B3F-2243-4CBC-F8CD-C274F8B15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5" name="Рисунок 2074">
            <a:extLst>
              <a:ext uri="{FF2B5EF4-FFF2-40B4-BE49-F238E27FC236}">
                <a16:creationId xmlns:a16="http://schemas.microsoft.com/office/drawing/2014/main" id="{5D5276CC-7E1E-CFCB-B32E-B1F1F730BF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86C33C95-7D15-27B8-B800-5FF9764D3A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775" y="412750"/>
            <a:ext cx="3234860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Операции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7B8BA14C-55BF-3B99-176D-5E539CFBD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831944"/>
              </p:ext>
            </p:extLst>
          </p:nvPr>
        </p:nvGraphicFramePr>
        <p:xfrm>
          <a:off x="595105" y="1793009"/>
          <a:ext cx="2336938" cy="4180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6938">
                  <a:extLst>
                    <a:ext uri="{9D8B030D-6E8A-4147-A177-3AD203B41FA5}">
                      <a16:colId xmlns:a16="http://schemas.microsoft.com/office/drawing/2014/main" val="4180098012"/>
                    </a:ext>
                  </a:extLst>
                </a:gridCol>
              </a:tblGrid>
              <a:tr h="696735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Операция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8157905"/>
                  </a:ext>
                </a:extLst>
              </a:tr>
              <a:tr h="696735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«=» - присваивание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0941100"/>
                  </a:ext>
                </a:extLst>
              </a:tr>
              <a:tr h="696735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«+» - плюс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9668381"/>
                  </a:ext>
                </a:extLst>
              </a:tr>
              <a:tr h="696735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«-» - минус</a:t>
                      </a:r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5408003"/>
                  </a:ext>
                </a:extLst>
              </a:tr>
              <a:tr h="696735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«*» - умножение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2241046"/>
                  </a:ext>
                </a:extLst>
              </a:tr>
              <a:tr h="696735">
                <a:tc>
                  <a:txBody>
                    <a:bodyPr/>
                    <a:lstStyle/>
                    <a:p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«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»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ru-RU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деление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70095440"/>
                  </a:ext>
                </a:extLst>
              </a:tr>
            </a:tbl>
          </a:graphicData>
        </a:graphic>
      </p:graphicFrame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7827381-27AC-684D-C1D0-965856712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171" y="1526072"/>
            <a:ext cx="6446061" cy="4714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74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D4276-4AF3-5F49-4C87-156308111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7DC897-35C1-018A-2269-FFC91DEC7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5" name="Rectangle 6">
            <a:extLst>
              <a:ext uri="{FF2B5EF4-FFF2-40B4-BE49-F238E27FC236}">
                <a16:creationId xmlns:a16="http://schemas.microsoft.com/office/drawing/2014/main" id="{130F4290-6452-4D11-C374-B58B5B0B5D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74600" y="3005807"/>
            <a:ext cx="7642798" cy="8463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5500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Переходим к практике !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174459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465</Words>
  <Application>Microsoft Office PowerPoint</Application>
  <PresentationFormat>Широкоэкранный</PresentationFormat>
  <Paragraphs>75</Paragraphs>
  <Slides>8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Calibri</vt:lpstr>
      <vt:lpstr>Calibri Light</vt:lpstr>
      <vt:lpstr>Montserrat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Odmen</cp:lastModifiedBy>
  <cp:revision>32</cp:revision>
  <dcterms:created xsi:type="dcterms:W3CDTF">2025-08-26T22:29:25Z</dcterms:created>
  <dcterms:modified xsi:type="dcterms:W3CDTF">2026-09-26T07:02:27Z</dcterms:modified>
</cp:coreProperties>
</file>